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embeddedFontLst>
    <p:embeddedFont>
      <p:font typeface="Noto Serif" panose="02020600060500020200" pitchFamily="18" charset="0"/>
      <p:regular r:id="rId12"/>
      <p:bold r:id="rId13"/>
    </p:embeddedFont>
    <p:embeddedFont>
      <p:font typeface="Noto Serif Medium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7288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4E9A2-B6B6-2DE1-B00E-0131B4153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7C6725-8CD3-C501-CF09-22E4D5C7D0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E677FA-0184-32B5-7C5A-AF5A95A55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A2768-6D5D-D033-41AF-171E6A7FF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708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" y="-1"/>
            <a:ext cx="9144001" cy="230886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6766" y="2438549"/>
            <a:ext cx="2227585" cy="266402"/>
          </a:xfrm>
          <a:prstGeom prst="roundRect">
            <a:avLst>
              <a:gd name="adj" fmla="val 17880"/>
            </a:avLst>
          </a:prstGeom>
          <a:solidFill>
            <a:srgbClr val="E8E6E3"/>
          </a:solidFill>
          <a:ln/>
        </p:spPr>
      </p:sp>
      <p:sp>
        <p:nvSpPr>
          <p:cNvPr id="4" name="Text 1"/>
          <p:cNvSpPr/>
          <p:nvPr/>
        </p:nvSpPr>
        <p:spPr>
          <a:xfrm>
            <a:off x="941821" y="2481039"/>
            <a:ext cx="251467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ATLIQ MEDIA — ELECTION ANALYSIS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856766" y="2761655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The TVK Takeover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856766" y="3417243"/>
            <a:ext cx="472276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 2026, Tamil Nadu saw a new party win big. TVK didn't just win — it </a:t>
            </a:r>
            <a:r>
              <a:rPr lang="en-US" sz="11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cannibalized the vote banks of both DMK and AIADMK</a:t>
            </a: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. The most competitive fights weren't in general seats. They were in reserved SC and ST constituencies — where nearly half the races were decided by less than 5%.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17587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Headline Numbers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14934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91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1603697" y="225988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Seats Flipped to TVK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566392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From DMK and AIADMK combined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0553" y="1614934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65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5768206" y="225988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DMK → TVK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60553" y="2566392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Direct seat transfers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6119" y="3147566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47.8%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1406723" y="3792513"/>
            <a:ext cx="21660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Reserved Seats Under 5%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6119" y="4099024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Decided by razor-thin margins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0553" y="3147566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119</a:t>
            </a:r>
            <a:endParaRPr lang="en-US" sz="3650" dirty="0"/>
          </a:p>
        </p:txBody>
      </p:sp>
      <p:sp>
        <p:nvSpPr>
          <p:cNvPr id="13" name="Text 11"/>
          <p:cNvSpPr/>
          <p:nvPr/>
        </p:nvSpPr>
        <p:spPr>
          <a:xfrm>
            <a:off x="5638577" y="3792513"/>
            <a:ext cx="20312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Constituencies Hit DMK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60553" y="4099024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Where DMK lost highest vote share to TVK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93502"/>
            <a:ext cx="336634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Q2: The Seat Flip Map</a:t>
            </a:r>
            <a:endParaRPr lang="en-US" sz="2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912" y="966713"/>
            <a:ext cx="3685952" cy="36859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11750" y="2071688"/>
            <a:ext cx="1932161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Where the Seats Went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711750" y="2331169"/>
            <a:ext cx="3685952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DMK lost </a:t>
            </a:r>
            <a:r>
              <a:rPr lang="en-US" sz="8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65 seats directly to TVK</a:t>
            </a: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the single largest transfer. AIADMK lost 26. Together, </a:t>
            </a:r>
            <a:r>
              <a:rPr lang="en-US" sz="8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91 seats</a:t>
            </a: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once held by the two major parties flipped to TVK.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711750" y="2882280"/>
            <a:ext cx="3685952" cy="721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DMK → TVK: 65 seats</a:t>
            </a:r>
            <a:endParaRPr lang="en-US" sz="850" dirty="0"/>
          </a:p>
          <a:p>
            <a:pPr marL="342900" indent="-342900" algn="l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AIADMK → TVK: 26 seats</a:t>
            </a:r>
            <a:endParaRPr lang="en-US" sz="850" dirty="0"/>
          </a:p>
          <a:p>
            <a:pPr marL="342900" indent="-342900" algn="l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INC → TVK: 11 seats</a:t>
            </a:r>
            <a:endParaRPr lang="en-US" sz="850" dirty="0"/>
          </a:p>
          <a:p>
            <a:pPr marL="342900" indent="-342900" algn="l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Others → TVK: 2 seats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435307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Q3: TVK's Vote Sources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15686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Average Vote Share Loss to TVK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TVK didn't just win seats — it </a:t>
            </a:r>
            <a:r>
              <a:rPr lang="en-US" sz="11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ate into the vote banks</a:t>
            </a: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of both major parties across the state.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421508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DMK:</a:t>
            </a: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−16.9% across 119 constituencies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AIADMK:</a:t>
            </a: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−15.9% across 77 constituencies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INC:</a:t>
            </a: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−16.0% across 14 constituencies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PMK:</a:t>
            </a: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−15.0% across 7 constituencies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04728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Q4: Reserved Seats — The Real Battleground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64006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46 SC &amp; ST Constituencies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Reserved seats are where elections are won or lost by a whisker.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421508"/>
            <a:ext cx="3902943" cy="1233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47.8%</a:t>
            </a: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of reserved seats decided by &lt;5% — nearly 1 in 2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Only </a:t>
            </a:r>
            <a:r>
              <a:rPr lang="en-US" sz="11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43.1%</a:t>
            </a: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of general seats that close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Landslide wins (&gt;20% margin) are </a:t>
            </a:r>
            <a:r>
              <a:rPr lang="en-US" sz="11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rarer</a:t>
            </a: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in reserved seats: just 4.3% vs 8%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626871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Q1: Reserved Seat Wins by Region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41529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TVK Built Its Foundation on Reserved Seats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Chennai Metro:</a:t>
            </a: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TVK swept all 5 reserved seats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South:</a:t>
            </a: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TVK won 6 of 9 reserved seats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North:</a:t>
            </a: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TVK tied AIADMK at 4 each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Central:</a:t>
            </a: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Three-way fight — TVK 4, AIADMK 3, DMK 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0869"/>
            <a:ext cx="3945954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The Five Nail-Biters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111672"/>
            <a:ext cx="86089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These reserved seats could have flipped with just a few hundred votes.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96119" y="1487612"/>
            <a:ext cx="8151763" cy="2407741"/>
          </a:xfrm>
          <a:prstGeom prst="roundRect">
            <a:avLst>
              <a:gd name="adj" fmla="val 243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556" y="1579513"/>
            <a:ext cx="245559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Constituency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922761" y="1579513"/>
            <a:ext cx="163897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Region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388346" y="1579513"/>
            <a:ext cx="237172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Winner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6686" y="1579513"/>
            <a:ext cx="2374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Margin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556" y="1980009"/>
            <a:ext cx="245559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Kallakurichi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22761" y="1980009"/>
            <a:ext cx="163897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Central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8346" y="1980009"/>
            <a:ext cx="237172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TVK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86686" y="1980009"/>
            <a:ext cx="2374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0.32% (~500 votes)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556" y="2380506"/>
            <a:ext cx="245559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Tindivanam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22761" y="2380506"/>
            <a:ext cx="163897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Central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88346" y="2380506"/>
            <a:ext cx="237172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TVK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6686" y="2380506"/>
            <a:ext cx="2374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0.37%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556" y="2781002"/>
            <a:ext cx="245559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Manamadurai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922761" y="2781002"/>
            <a:ext cx="163897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South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88346" y="2781002"/>
            <a:ext cx="237172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TVK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86686" y="2781002"/>
            <a:ext cx="2374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0.58%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556" y="3181499"/>
            <a:ext cx="245559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Yercaud (ST)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922761" y="3181499"/>
            <a:ext cx="163897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Central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388346" y="3181499"/>
            <a:ext cx="237172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AIADMK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86686" y="3181499"/>
            <a:ext cx="2374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0.86%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556" y="3581995"/>
            <a:ext cx="245559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Senthamangalam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922761" y="3581995"/>
            <a:ext cx="163897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Central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388346" y="3581995"/>
            <a:ext cx="237172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TVK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86686" y="3581995"/>
            <a:ext cx="2374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1.27%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6119" y="4049837"/>
            <a:ext cx="8151763" cy="538311"/>
          </a:xfrm>
          <a:prstGeom prst="roundRect">
            <a:avLst>
              <a:gd name="adj" fmla="val 10888"/>
            </a:avLst>
          </a:prstGeom>
          <a:solidFill>
            <a:srgbClr val="DDDAD4"/>
          </a:solidFill>
          <a:ln/>
        </p:spPr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645" y="4249713"/>
            <a:ext cx="174427" cy="139526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949598" y="4208264"/>
            <a:ext cx="80159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Pattern:</a:t>
            </a:r>
            <a:r>
              <a:rPr lang="en-US" sz="10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Four of five are in the Central region. Four of five were won by TVK.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893043"/>
            <a:ext cx="481942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Central Region Deep Dive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548631"/>
            <a:ext cx="2290465" cy="1506810"/>
          </a:xfrm>
          <a:prstGeom prst="roundRect">
            <a:avLst>
              <a:gd name="adj" fmla="val 3952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blurRad="101600" dist="1778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071640" y="169515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4 of 5 Nail-Biters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71640" y="2001664"/>
            <a:ext cx="19974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Four of the five closest reserved seats in the state are in the Central region — a concentrated pressure zone.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548631"/>
            <a:ext cx="2290539" cy="1506810"/>
          </a:xfrm>
          <a:prstGeom prst="roundRect">
            <a:avLst>
              <a:gd name="adj" fmla="val 3952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blurRad="101600" dist="1778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503863" y="169515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Three-Way Fight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03863" y="2001664"/>
            <a:ext cx="199749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Central reserved seats split TVK 4, AIADMK 3, DMK 2 — the most contested region overall.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3197200"/>
            <a:ext cx="4722763" cy="1053182"/>
          </a:xfrm>
          <a:prstGeom prst="roundRect">
            <a:avLst>
              <a:gd name="adj" fmla="val 5654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blurRad="101600" dist="1778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071640" y="334372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Reporter Priority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71640" y="3650233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Send a reporter to Central region. Ask local leaders why the fight was so tight.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26560-CDC3-C595-74AF-4238A65A3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25D86CD-D0E1-22FB-9D92-8BE8B0CF1BB7}"/>
              </a:ext>
            </a:extLst>
          </p:cNvPr>
          <p:cNvSpPr/>
          <p:nvPr/>
        </p:nvSpPr>
        <p:spPr>
          <a:xfrm>
            <a:off x="496118" y="517177"/>
            <a:ext cx="7885881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7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Thank You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49DB416-155C-81C8-71F1-4F1928AA292C}"/>
              </a:ext>
            </a:extLst>
          </p:cNvPr>
          <p:cNvSpPr/>
          <p:nvPr/>
        </p:nvSpPr>
        <p:spPr>
          <a:xfrm>
            <a:off x="496119" y="1111672"/>
            <a:ext cx="86089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Let's build fact-based television.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637A787-6F83-0355-539F-A98898708CDC}"/>
              </a:ext>
            </a:extLst>
          </p:cNvPr>
          <p:cNvSpPr/>
          <p:nvPr/>
        </p:nvSpPr>
        <p:spPr>
          <a:xfrm>
            <a:off x="640556" y="1632018"/>
            <a:ext cx="8091964" cy="21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71450" indent="-171450" algn="l">
              <a:lnSpc>
                <a:spcPct val="132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Reserved seats are Tamil Nadu's real swing seats — 47.8% decided by &lt;5% margin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6A979B5-5613-6DE6-2C99-CA7F14E871C3}"/>
              </a:ext>
            </a:extLst>
          </p:cNvPr>
          <p:cNvSpPr/>
          <p:nvPr/>
        </p:nvSpPr>
        <p:spPr>
          <a:xfrm>
            <a:off x="635644" y="2042821"/>
            <a:ext cx="8151763" cy="231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71450" indent="-171450" algn="l">
              <a:lnSpc>
                <a:spcPct val="132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TVK's foundation was built on SC/ST constituencies, especially in Chennai Metro &amp; South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E90F9D7-259B-4BC7-9F8D-B2D25867638A}"/>
              </a:ext>
            </a:extLst>
          </p:cNvPr>
          <p:cNvSpPr/>
          <p:nvPr/>
        </p:nvSpPr>
        <p:spPr>
          <a:xfrm>
            <a:off x="640556" y="2433011"/>
            <a:ext cx="245559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71450" indent="-171450" algn="l">
              <a:lnSpc>
                <a:spcPct val="132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Central region housed 4 of the 5 closest reserved seat races in the state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46B9817-4648-DF54-CFBC-7FC30BD7A348}"/>
              </a:ext>
            </a:extLst>
          </p:cNvPr>
          <p:cNvSpPr/>
          <p:nvPr/>
        </p:nvSpPr>
        <p:spPr>
          <a:xfrm>
            <a:off x="640556" y="2833508"/>
            <a:ext cx="245559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71450" indent="-171450" algn="l">
              <a:lnSpc>
                <a:spcPct val="132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 causal claims — we report only what the data says</a:t>
            </a:r>
          </a:p>
        </p:txBody>
      </p:sp>
      <p:sp>
        <p:nvSpPr>
          <p:cNvPr id="35" name="Shape 27">
            <a:extLst>
              <a:ext uri="{FF2B5EF4-FFF2-40B4-BE49-F238E27FC236}">
                <a16:creationId xmlns:a16="http://schemas.microsoft.com/office/drawing/2014/main" id="{0F103179-D773-FBAF-2516-0A2D2C1430A7}"/>
              </a:ext>
            </a:extLst>
          </p:cNvPr>
          <p:cNvSpPr/>
          <p:nvPr/>
        </p:nvSpPr>
        <p:spPr>
          <a:xfrm>
            <a:off x="496119" y="3805293"/>
            <a:ext cx="8151763" cy="782856"/>
          </a:xfrm>
          <a:prstGeom prst="roundRect">
            <a:avLst>
              <a:gd name="adj" fmla="val 10888"/>
            </a:avLst>
          </a:prstGeom>
          <a:solidFill>
            <a:srgbClr val="DDDAD4"/>
          </a:solidFill>
          <a:ln/>
        </p:spPr>
      </p:sp>
      <p:pic>
        <p:nvPicPr>
          <p:cNvPr id="37" name="Image 0" descr="preencoded.png">
            <a:extLst>
              <a:ext uri="{FF2B5EF4-FFF2-40B4-BE49-F238E27FC236}">
                <a16:creationId xmlns:a16="http://schemas.microsoft.com/office/drawing/2014/main" id="{B8DEA2E5-47F1-9CB9-D6C8-F7DC72C95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645" y="4319476"/>
            <a:ext cx="174427" cy="139526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32456B75-59F3-4C42-5CAB-27628E5EA9D6}"/>
              </a:ext>
            </a:extLst>
          </p:cNvPr>
          <p:cNvSpPr txBox="1"/>
          <p:nvPr/>
        </p:nvSpPr>
        <p:spPr>
          <a:xfrm>
            <a:off x="810072" y="3805293"/>
            <a:ext cx="8091963" cy="713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</a:pPr>
            <a:r>
              <a:rPr lang="en-US" sz="1050" b="1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GitHub Repo:  </a:t>
            </a:r>
            <a:r>
              <a:rPr lang="en-US" sz="10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https://github.com/dee8864/Decoding-the-2026-Tamil-Nadu-Election     |  </a:t>
            </a:r>
          </a:p>
          <a:p>
            <a:pPr>
              <a:lnSpc>
                <a:spcPct val="132000"/>
              </a:lnSpc>
            </a:pPr>
            <a:r>
              <a:rPr lang="en-US" sz="1050" b="1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Data:</a:t>
            </a:r>
            <a:r>
              <a:rPr lang="en-US" sz="10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ECI Provisional Results  |  </a:t>
            </a:r>
          </a:p>
          <a:p>
            <a:pPr>
              <a:lnSpc>
                <a:spcPct val="132000"/>
              </a:lnSpc>
            </a:pPr>
            <a:r>
              <a:rPr lang="en-US" sz="1050" b="1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Analysis:</a:t>
            </a:r>
            <a:r>
              <a:rPr lang="en-US" sz="10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Python (pandas, matplotlib)</a:t>
            </a:r>
          </a:p>
        </p:txBody>
      </p:sp>
      <p:pic>
        <p:nvPicPr>
          <p:cNvPr id="43" name="Image 0" descr="preencoded.png">
            <a:extLst>
              <a:ext uri="{FF2B5EF4-FFF2-40B4-BE49-F238E27FC236}">
                <a16:creationId xmlns:a16="http://schemas.microsoft.com/office/drawing/2014/main" id="{33EFD272-56DA-99F2-C6D5-E5051517D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645" y="4105324"/>
            <a:ext cx="174427" cy="139526"/>
          </a:xfrm>
          <a:prstGeom prst="rect">
            <a:avLst/>
          </a:prstGeom>
        </p:spPr>
      </p:pic>
      <p:pic>
        <p:nvPicPr>
          <p:cNvPr id="45" name="Image 0" descr="preencoded.png">
            <a:extLst>
              <a:ext uri="{FF2B5EF4-FFF2-40B4-BE49-F238E27FC236}">
                <a16:creationId xmlns:a16="http://schemas.microsoft.com/office/drawing/2014/main" id="{AA23D151-278E-227E-A39A-650E97982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644" y="3891173"/>
            <a:ext cx="174427" cy="13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951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599</Words>
  <Application>Microsoft Office PowerPoint</Application>
  <PresentationFormat>On-screen Show (16:9)</PresentationFormat>
  <Paragraphs>94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Noto Serif</vt:lpstr>
      <vt:lpstr>Noto Serif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deepanshu sharma</cp:lastModifiedBy>
  <cp:revision>3</cp:revision>
  <dcterms:created xsi:type="dcterms:W3CDTF">2026-06-12T15:18:57Z</dcterms:created>
  <dcterms:modified xsi:type="dcterms:W3CDTF">2026-07-22T10:20:29Z</dcterms:modified>
</cp:coreProperties>
</file>